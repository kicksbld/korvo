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5CB7FF"/>
                </a:solidFill>
                <a:latin typeface="Aptos"/>
              </a:rPr>
              <a:t>DESIGN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9494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5F7FA"/>
                </a:solidFill>
                <a:latin typeface="Aptos"/>
              </a:rPr>
              <a:t>Le Design Pattern
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6766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0">
                <a:solidFill>
                  <a:srgbClr val="9DA8B5"/>
                </a:solidFill>
                <a:latin typeface="Aptos"/>
              </a:rPr>
              <a:t>un substitut qui contrôle l'accès à un objet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874519"/>
            <a:ext cx="998981" cy="712317"/>
          </a:xfrm>
          <a:prstGeom prst="roundRect">
            <a:avLst/>
          </a:prstGeom>
          <a:solidFill>
            <a:srgbClr val="171C23"/>
          </a:solidFill>
          <a:ln w="25400">
            <a:solidFill>
              <a:srgbClr val="89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900580"/>
            <a:ext cx="998981" cy="6080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90" b="1">
                <a:solidFill>
                  <a:srgbClr val="89E8B4"/>
                </a:solidFill>
                <a:latin typeface="Aptos"/>
              </a:rPr>
              <a:t>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7988" y="1874519"/>
            <a:ext cx="998981" cy="712317"/>
          </a:xfrm>
          <a:prstGeom prst="roundRect">
            <a:avLst/>
          </a:prstGeom>
          <a:solidFill>
            <a:srgbClr val="171C23"/>
          </a:solidFill>
          <a:ln w="25400">
            <a:solidFill>
              <a:srgbClr val="5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47988" y="1900580"/>
            <a:ext cx="998981" cy="6080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90" b="1">
                <a:solidFill>
                  <a:srgbClr val="5CB7FF"/>
                </a:solidFill>
                <a:latin typeface="Aptos"/>
              </a:rPr>
              <a:t>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72216" y="1874519"/>
            <a:ext cx="998981" cy="712317"/>
          </a:xfrm>
          <a:prstGeom prst="roundRect">
            <a:avLst/>
          </a:prstGeom>
          <a:solidFill>
            <a:srgbClr val="171C23"/>
          </a:solidFill>
          <a:ln w="254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72216" y="1900580"/>
            <a:ext cx="998981" cy="6080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90" b="1">
                <a:solidFill>
                  <a:srgbClr val="F5F7FA"/>
                </a:solidFill>
                <a:latin typeface="Aptos"/>
              </a:rPr>
              <a:t>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2742" y="2204618"/>
            <a:ext cx="825246" cy="30403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46970" y="2204618"/>
            <a:ext cx="825246" cy="30403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3749039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9DA8B5"/>
                </a:solidFill>
                <a:latin typeface="Aptos"/>
              </a:rPr>
              <a:t>CLIENT  →  PROXY  → 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5CB7F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Pourquoi contrôler l'accès à un objet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060704"/>
            <a:ext cx="10378440" cy="13716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55064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81328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Objet lourd / coûteux à créer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78024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04288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Pas toujours nécessaire immédiatement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00984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127248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Lazy loading → duplication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123944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950208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Classe d'origine parfois non modifiable</a:t>
            </a:r>
          </a:p>
        </p:txBody>
      </p:sp>
      <p:sp>
        <p:nvSpPr>
          <p:cNvPr id="13" name="Can 12"/>
          <p:cNvSpPr/>
          <p:nvPr/>
        </p:nvSpPr>
        <p:spPr>
          <a:xfrm>
            <a:off x="9646920" y="1828800"/>
            <a:ext cx="1325880" cy="2011680"/>
          </a:xfrm>
          <a:prstGeom prst="can">
            <a:avLst/>
          </a:prstGeom>
          <a:solidFill>
            <a:srgbClr val="171C23"/>
          </a:solidFill>
          <a:ln w="25400">
            <a:solidFill>
              <a:srgbClr val="5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487168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5CB7FF"/>
                </a:solidFill>
                <a:latin typeface="Aptos"/>
              </a:rPr>
              <a:t>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3977639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9DA8B5"/>
                </a:solidFill>
                <a:latin typeface="Aptos"/>
              </a:rPr>
              <a:t>coûteux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5CB7F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Une carte bancaire, un proxy pour ton argent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060704"/>
            <a:ext cx="10378440" cy="13716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773936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600200"/>
            <a:ext cx="6583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5F7FA"/>
                </a:solidFill>
                <a:latin typeface="Aptos"/>
              </a:rPr>
              <a:t>Même usage : payer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688336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514600"/>
            <a:ext cx="6583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5F7FA"/>
                </a:solidFill>
                <a:latin typeface="Aptos"/>
              </a:rPr>
              <a:t>Contrôle avant transaction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02736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429000"/>
            <a:ext cx="6583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5F7FA"/>
                </a:solidFill>
                <a:latin typeface="Aptos"/>
              </a:rPr>
              <a:t>Le client ignore ce qu'il y a derrière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74519"/>
            <a:ext cx="2560320" cy="1600200"/>
          </a:xfrm>
          <a:prstGeom prst="roundRect">
            <a:avLst/>
          </a:prstGeom>
          <a:solidFill>
            <a:srgbClr val="171C23"/>
          </a:solidFill>
          <a:ln w="31750">
            <a:solidFill>
              <a:srgbClr val="89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2286000"/>
            <a:ext cx="566928" cy="420624"/>
          </a:xfrm>
          <a:prstGeom prst="roundRect">
            <a:avLst/>
          </a:prstGeom>
          <a:solidFill>
            <a:srgbClr val="89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2267712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  <a:latin typeface="Aptos"/>
              </a:rPr>
              <a:t>→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17520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9DA8B5"/>
                </a:solidFill>
                <a:latin typeface="Aptos"/>
              </a:rPr>
              <a:t>PAIEMENT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5CB7F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Comment ça marche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060704"/>
            <a:ext cx="10378440" cy="13716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240280" cy="1508760"/>
          </a:xfrm>
          <a:prstGeom prst="roundRect">
            <a:avLst/>
          </a:prstGeom>
          <a:solidFill>
            <a:srgbClr val="171C23"/>
          </a:solidFill>
          <a:ln w="21590">
            <a:solidFill>
              <a:srgbClr val="89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331720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89E8B4"/>
                </a:solidFill>
                <a:latin typeface="Aptos"/>
              </a:rPr>
              <a:t>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52928"/>
            <a:ext cx="20116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9DA8B5"/>
                </a:solidFill>
                <a:latin typeface="Aptos"/>
              </a:rPr>
              <a:t>même contrat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057400"/>
            <a:ext cx="2240280" cy="1508760"/>
          </a:xfrm>
          <a:prstGeom prst="roundRect">
            <a:avLst/>
          </a:prstGeom>
          <a:solidFill>
            <a:srgbClr val="171C23"/>
          </a:solidFill>
          <a:ln w="2159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2331720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Service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852928"/>
            <a:ext cx="20116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9DA8B5"/>
                </a:solidFill>
                <a:latin typeface="Aptos"/>
              </a:rPr>
              <a:t>fait le travail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2240280" cy="1508760"/>
          </a:xfrm>
          <a:prstGeom prst="roundRect">
            <a:avLst/>
          </a:prstGeom>
          <a:solidFill>
            <a:srgbClr val="171C23"/>
          </a:solidFill>
          <a:ln w="21590">
            <a:solidFill>
              <a:srgbClr val="5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331720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5CB7FF"/>
                </a:solidFill>
                <a:latin typeface="Aptos"/>
              </a:rPr>
              <a:t>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852928"/>
            <a:ext cx="20116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9DA8B5"/>
                </a:solidFill>
                <a:latin typeface="Aptos"/>
              </a:rPr>
              <a:t>contrôle → délègue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057400"/>
            <a:ext cx="2240280" cy="1508760"/>
          </a:xfrm>
          <a:prstGeom prst="roundRect">
            <a:avLst/>
          </a:prstGeom>
          <a:solidFill>
            <a:srgbClr val="171C23"/>
          </a:solidFill>
          <a:ln w="21590">
            <a:solidFill>
              <a:srgbClr val="9D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2331720"/>
            <a:ext cx="2011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9DA8B5"/>
                </a:solidFill>
                <a:latin typeface="Aptos"/>
              </a:rP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2852928"/>
            <a:ext cx="20116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9DA8B5"/>
                </a:solidFill>
                <a:latin typeface="Aptos"/>
              </a:rPr>
              <a:t>utilise l'interface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34640" y="2560320"/>
            <a:ext cx="566928" cy="411480"/>
          </a:xfrm>
          <a:prstGeom prst="rightArrow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760720" y="2560320"/>
            <a:ext cx="566928" cy="411480"/>
          </a:xfrm>
          <a:prstGeom prst="rightArrow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686800" y="2560320"/>
            <a:ext cx="566928" cy="411480"/>
          </a:xfrm>
          <a:prstGeom prst="rightArrow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5CB7F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Exemple pratique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060704"/>
            <a:ext cx="10378440" cy="13716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F5F7FA"/>
                </a:solidFill>
                <a:latin typeface="Aptos"/>
              </a:rPr>
              <a:t>Démo en direct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5650992" y="3794760"/>
            <a:ext cx="822960" cy="822960"/>
          </a:xfrm>
          <a:prstGeom prst="triangl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5CB7F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Avantages / Inconvénients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060704"/>
            <a:ext cx="10378440" cy="13716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74920" cy="4480560"/>
          </a:xfrm>
          <a:prstGeom prst="roundRect">
            <a:avLst/>
          </a:prstGeom>
          <a:solidFill>
            <a:srgbClr val="171C23"/>
          </a:solidFill>
          <a:ln w="15240">
            <a:solidFill>
              <a:srgbClr val="353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64792"/>
            <a:ext cx="4434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89E8B4"/>
                </a:solidFill>
                <a:latin typeface="Aptos"/>
              </a:rPr>
              <a:t>AVANTAGES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074920" cy="4480560"/>
          </a:xfrm>
          <a:prstGeom prst="roundRect">
            <a:avLst/>
          </a:prstGeom>
          <a:solidFill>
            <a:srgbClr val="171C23"/>
          </a:solidFill>
          <a:ln w="15240">
            <a:solidFill>
              <a:srgbClr val="353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64792"/>
            <a:ext cx="4434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CB7FF"/>
                </a:solidFill>
                <a:latin typeface="Aptos"/>
              </a:rPr>
              <a:t>INCONVÉNIENTS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596896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423160"/>
            <a:ext cx="4343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Contrôle sans exposer l'objet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310127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3136391"/>
            <a:ext cx="4343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Gère son cycle de vie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023360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3849624"/>
            <a:ext cx="4343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Service pas encore prêt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736592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4562856"/>
            <a:ext cx="4343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Open/Closed : nouveaux proxies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2596896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2423160"/>
            <a:ext cx="4251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Plus de classes → complexité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3511296"/>
            <a:ext cx="91440" cy="91440"/>
          </a:xfrm>
          <a:prstGeom prst="ellipse">
            <a:avLst/>
          </a:prstGeom>
          <a:solidFill>
            <a:srgbClr val="5C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3337560"/>
            <a:ext cx="4251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Peut ralentir la réponse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5CB7FF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Où utiliser un Proxy 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060704"/>
            <a:ext cx="10378440" cy="13716"/>
          </a:xfrm>
          <a:prstGeom prst="rect">
            <a:avLst/>
          </a:prstGeom>
          <a:solidFill>
            <a:srgbClr val="353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743200" cy="1325880"/>
          </a:xfrm>
          <a:prstGeom prst="roundRect">
            <a:avLst/>
          </a:prstGeom>
          <a:solidFill>
            <a:srgbClr val="171C23"/>
          </a:solidFill>
          <a:ln w="19050">
            <a:solidFill>
              <a:srgbClr val="353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2468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Lazy 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9DA8B5"/>
                </a:solidFill>
                <a:latin typeface="Aptos"/>
              </a:rPr>
              <a:t>proxy virtuel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2743200" cy="1325880"/>
          </a:xfrm>
          <a:prstGeom prst="roundRect">
            <a:avLst/>
          </a:prstGeom>
          <a:solidFill>
            <a:srgbClr val="171C23"/>
          </a:solidFill>
          <a:ln w="19050">
            <a:solidFill>
              <a:srgbClr val="353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47088"/>
            <a:ext cx="2468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Contrôle d'accès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59152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9DA8B5"/>
                </a:solidFill>
                <a:latin typeface="Aptos"/>
              </a:rPr>
              <a:t>proxy de protection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600200"/>
            <a:ext cx="2743200" cy="1325880"/>
          </a:xfrm>
          <a:prstGeom prst="roundRect">
            <a:avLst/>
          </a:prstGeom>
          <a:solidFill>
            <a:srgbClr val="171C23"/>
          </a:solidFill>
          <a:ln w="19050">
            <a:solidFill>
              <a:srgbClr val="353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847088"/>
            <a:ext cx="2468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Appel distant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359152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9DA8B5"/>
                </a:solidFill>
                <a:latin typeface="Aptos"/>
              </a:rPr>
              <a:t>proxy distant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840480"/>
            <a:ext cx="2743200" cy="1325880"/>
          </a:xfrm>
          <a:prstGeom prst="roundRect">
            <a:avLst/>
          </a:prstGeom>
          <a:solidFill>
            <a:srgbClr val="171C23"/>
          </a:solidFill>
          <a:ln w="19050">
            <a:solidFill>
              <a:srgbClr val="5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4087368"/>
            <a:ext cx="2468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840480"/>
            <a:ext cx="2743200" cy="1325880"/>
          </a:xfrm>
          <a:prstGeom prst="roundRect">
            <a:avLst/>
          </a:prstGeom>
          <a:solidFill>
            <a:srgbClr val="171C23"/>
          </a:solidFill>
          <a:ln w="19050">
            <a:solidFill>
              <a:srgbClr val="5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4087368"/>
            <a:ext cx="2468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